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2"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55F4FB-8DA9-4905-9F36-DC759806900E}" type="datetimeFigureOut">
              <a:rPr lang="en-US" smtClean="0"/>
              <a:t>5/2/2025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C78282-4AA9-4571-86A2-EE39FFFB7AC8}" type="slidenum">
              <a:rPr lang="en-US" smtClean="0"/>
              <a:t>‹#›</a:t>
            </a:fld>
            <a:endParaRPr lang="en-US"/>
          </a:p>
        </p:txBody>
      </p:sp>
    </p:spTree>
    <p:extLst>
      <p:ext uri="{BB962C8B-B14F-4D97-AF65-F5344CB8AC3E}">
        <p14:creationId xmlns:p14="http://schemas.microsoft.com/office/powerpoint/2010/main" val="812904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Sales ETL Pipeline Project</a:t>
            </a:r>
          </a:p>
        </p:txBody>
      </p:sp>
      <p:sp>
        <p:nvSpPr>
          <p:cNvPr id="3" name="Subtitle 2"/>
          <p:cNvSpPr>
            <a:spLocks noGrp="1"/>
          </p:cNvSpPr>
          <p:nvPr>
            <p:ph type="subTitle" idx="1"/>
          </p:nvPr>
        </p:nvSpPr>
        <p:spPr/>
        <p:txBody>
          <a:bodyPr/>
          <a:lstStyle/>
          <a:p>
            <a:r>
              <a:t>Automated data pipeline from Airflow to Power BI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1. Project Overview</a:t>
            </a:r>
          </a:p>
          <a:p>
            <a:r>
              <a:t>2. Tools &amp; Technologies</a:t>
            </a:r>
          </a:p>
          <a:p>
            <a:r>
              <a:t>3. ETL Flow Diagram</a:t>
            </a:r>
          </a:p>
          <a:p>
            <a:r>
              <a:t>4. Power BI Dashboard</a:t>
            </a:r>
          </a:p>
          <a:p>
            <a:r>
              <a:t>5. Conclusion &amp; Q&amp;A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lstStyle/>
          <a:p>
            <a:r>
              <a:t>This project automates the sales data pipeline from data generation to visualization. It uses Apache Airflow to orchestrate tasks, AWS services for storage and transformation, and Power BI for dashboard reporting.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&amp; Technologies</a:t>
            </a:r>
          </a:p>
        </p:txBody>
      </p:sp>
      <p:sp>
        <p:nvSpPr>
          <p:cNvPr id="3" name="Content Placeholder 2"/>
          <p:cNvSpPr>
            <a:spLocks noGrp="1"/>
          </p:cNvSpPr>
          <p:nvPr>
            <p:ph idx="1"/>
          </p:nvPr>
        </p:nvSpPr>
        <p:spPr/>
        <p:txBody>
          <a:bodyPr/>
          <a:lstStyle/>
          <a:p>
            <a:r>
              <a:t>Backend:</a:t>
            </a:r>
          </a:p>
          <a:p>
            <a:r>
              <a:t>• Apache Airflow</a:t>
            </a:r>
          </a:p>
          <a:p>
            <a:r>
              <a:t>• AWS S3, Glue, Redshift</a:t>
            </a:r>
          </a:p>
          <a:p>
            <a:r>
              <a:t>Frontend:</a:t>
            </a:r>
          </a:p>
          <a:p>
            <a:r>
              <a:t>• Power BI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ETL Architecture Diagram</a:t>
            </a:r>
          </a:p>
        </p:txBody>
      </p:sp>
      <p:sp>
        <p:nvSpPr>
          <p:cNvPr id="3" name="Rounded Rectangle 2"/>
          <p:cNvSpPr/>
          <p:nvPr/>
        </p:nvSpPr>
        <p:spPr>
          <a:xfrm>
            <a:off x="304015" y="1520820"/>
            <a:ext cx="2286000" cy="731520"/>
          </a:xfrm>
          <a:prstGeom prst="roundRect">
            <a:avLst/>
          </a:prstGeom>
          <a:solidFill>
            <a:srgbClr val="5B9BD5"/>
          </a:solidFill>
        </p:spPr>
        <p:style>
          <a:lnRef idx="1">
            <a:schemeClr val="accent1"/>
          </a:lnRef>
          <a:fillRef idx="3">
            <a:schemeClr val="accent1"/>
          </a:fillRef>
          <a:effectRef idx="2">
            <a:schemeClr val="accent1"/>
          </a:effectRef>
          <a:fontRef idx="minor">
            <a:schemeClr val="lt1"/>
          </a:fontRef>
        </p:style>
        <p:txBody>
          <a:bodyPr rtlCol="0" anchor="ctr"/>
          <a:lstStyle/>
          <a:p>
            <a:pPr>
              <a:defRPr sz="1200">
                <a:solidFill>
                  <a:srgbClr val="FFFFFF"/>
                </a:solidFill>
              </a:defRPr>
            </a:pPr>
            <a:r>
              <a:rPr sz="1400" b="1" dirty="0"/>
              <a:t>Airflow DAG</a:t>
            </a:r>
          </a:p>
        </p:txBody>
      </p:sp>
      <p:sp>
        <p:nvSpPr>
          <p:cNvPr id="4" name="Rounded Rectangle 3"/>
          <p:cNvSpPr/>
          <p:nvPr/>
        </p:nvSpPr>
        <p:spPr>
          <a:xfrm>
            <a:off x="3518556" y="1540893"/>
            <a:ext cx="2286000" cy="731520"/>
          </a:xfrm>
          <a:prstGeom prst="roundRect">
            <a:avLst/>
          </a:prstGeom>
          <a:solidFill>
            <a:srgbClr val="5B9BD5"/>
          </a:solidFill>
        </p:spPr>
        <p:style>
          <a:lnRef idx="1">
            <a:schemeClr val="accent1"/>
          </a:lnRef>
          <a:fillRef idx="3">
            <a:schemeClr val="accent1"/>
          </a:fillRef>
          <a:effectRef idx="2">
            <a:schemeClr val="accent1"/>
          </a:effectRef>
          <a:fontRef idx="minor">
            <a:schemeClr val="lt1"/>
          </a:fontRef>
        </p:style>
        <p:txBody>
          <a:bodyPr rtlCol="0" anchor="ctr"/>
          <a:lstStyle/>
          <a:p>
            <a:pPr>
              <a:defRPr sz="1200">
                <a:solidFill>
                  <a:srgbClr val="FFFFFF"/>
                </a:solidFill>
              </a:defRPr>
            </a:pPr>
            <a:r>
              <a:rPr sz="1400" b="1" dirty="0"/>
              <a:t>S3 (Raw Orders)</a:t>
            </a:r>
          </a:p>
        </p:txBody>
      </p:sp>
      <p:sp>
        <p:nvSpPr>
          <p:cNvPr id="5" name="Rounded Rectangle 4"/>
          <p:cNvSpPr/>
          <p:nvPr/>
        </p:nvSpPr>
        <p:spPr>
          <a:xfrm>
            <a:off x="6787301" y="1573926"/>
            <a:ext cx="2286000" cy="731520"/>
          </a:xfrm>
          <a:prstGeom prst="roundRect">
            <a:avLst/>
          </a:prstGeom>
          <a:solidFill>
            <a:srgbClr val="5B9BD5"/>
          </a:solidFill>
        </p:spPr>
        <p:style>
          <a:lnRef idx="1">
            <a:schemeClr val="accent1"/>
          </a:lnRef>
          <a:fillRef idx="3">
            <a:schemeClr val="accent1"/>
          </a:fillRef>
          <a:effectRef idx="2">
            <a:schemeClr val="accent1"/>
          </a:effectRef>
          <a:fontRef idx="minor">
            <a:schemeClr val="lt1"/>
          </a:fontRef>
        </p:style>
        <p:txBody>
          <a:bodyPr rtlCol="0" anchor="ctr"/>
          <a:lstStyle/>
          <a:p>
            <a:pPr>
              <a:defRPr sz="1200">
                <a:solidFill>
                  <a:srgbClr val="FFFFFF"/>
                </a:solidFill>
              </a:defRPr>
            </a:pPr>
            <a:r>
              <a:rPr sz="1400" b="1" dirty="0"/>
              <a:t>AWS Glue (Clean &amp; Transform</a:t>
            </a:r>
            <a:r>
              <a:rPr sz="1400" dirty="0"/>
              <a:t>)</a:t>
            </a:r>
          </a:p>
        </p:txBody>
      </p:sp>
      <p:sp>
        <p:nvSpPr>
          <p:cNvPr id="6" name="Rounded Rectangle 5"/>
          <p:cNvSpPr/>
          <p:nvPr/>
        </p:nvSpPr>
        <p:spPr>
          <a:xfrm>
            <a:off x="6768447" y="3429000"/>
            <a:ext cx="2286000" cy="731520"/>
          </a:xfrm>
          <a:prstGeom prst="roundRect">
            <a:avLst/>
          </a:prstGeom>
          <a:solidFill>
            <a:srgbClr val="5B9BD5"/>
          </a:solidFill>
        </p:spPr>
        <p:style>
          <a:lnRef idx="1">
            <a:schemeClr val="accent1"/>
          </a:lnRef>
          <a:fillRef idx="3">
            <a:schemeClr val="accent1"/>
          </a:fillRef>
          <a:effectRef idx="2">
            <a:schemeClr val="accent1"/>
          </a:effectRef>
          <a:fontRef idx="minor">
            <a:schemeClr val="lt1"/>
          </a:fontRef>
        </p:style>
        <p:txBody>
          <a:bodyPr rtlCol="0" anchor="ctr"/>
          <a:lstStyle/>
          <a:p>
            <a:pPr>
              <a:defRPr sz="1200">
                <a:solidFill>
                  <a:srgbClr val="FFFFFF"/>
                </a:solidFill>
              </a:defRPr>
            </a:pPr>
            <a:r>
              <a:rPr sz="1400" b="1" dirty="0"/>
              <a:t>S3 (Processed Orders)</a:t>
            </a:r>
          </a:p>
        </p:txBody>
      </p:sp>
      <p:sp>
        <p:nvSpPr>
          <p:cNvPr id="7" name="Rounded Rectangle 6"/>
          <p:cNvSpPr/>
          <p:nvPr/>
        </p:nvSpPr>
        <p:spPr>
          <a:xfrm>
            <a:off x="3429000" y="3405904"/>
            <a:ext cx="2286000" cy="731520"/>
          </a:xfrm>
          <a:prstGeom prst="roundRect">
            <a:avLst/>
          </a:prstGeom>
          <a:solidFill>
            <a:srgbClr val="5B9BD5"/>
          </a:solidFill>
        </p:spPr>
        <p:style>
          <a:lnRef idx="1">
            <a:schemeClr val="accent1"/>
          </a:lnRef>
          <a:fillRef idx="3">
            <a:schemeClr val="accent1"/>
          </a:fillRef>
          <a:effectRef idx="2">
            <a:schemeClr val="accent1"/>
          </a:effectRef>
          <a:fontRef idx="minor">
            <a:schemeClr val="lt1"/>
          </a:fontRef>
        </p:style>
        <p:txBody>
          <a:bodyPr rtlCol="0" anchor="ctr"/>
          <a:lstStyle/>
          <a:p>
            <a:pPr>
              <a:defRPr sz="1200">
                <a:solidFill>
                  <a:srgbClr val="FFFFFF"/>
                </a:solidFill>
              </a:defRPr>
            </a:pPr>
            <a:r>
              <a:rPr sz="1400" b="1" dirty="0"/>
              <a:t>Redshift (</a:t>
            </a:r>
            <a:r>
              <a:rPr sz="1400" b="1" dirty="0" err="1"/>
              <a:t>sales_orders</a:t>
            </a:r>
            <a:r>
              <a:rPr sz="1400" b="1" dirty="0"/>
              <a:t> table)</a:t>
            </a:r>
          </a:p>
        </p:txBody>
      </p:sp>
      <p:sp>
        <p:nvSpPr>
          <p:cNvPr id="8" name="Rounded Rectangle 7"/>
          <p:cNvSpPr/>
          <p:nvPr/>
        </p:nvSpPr>
        <p:spPr>
          <a:xfrm>
            <a:off x="1143000" y="4709032"/>
            <a:ext cx="2286000" cy="731520"/>
          </a:xfrm>
          <a:prstGeom prst="roundRect">
            <a:avLst/>
          </a:prstGeom>
          <a:solidFill>
            <a:srgbClr val="5B9BD5"/>
          </a:solidFill>
        </p:spPr>
        <p:style>
          <a:lnRef idx="1">
            <a:schemeClr val="accent1"/>
          </a:lnRef>
          <a:fillRef idx="3">
            <a:schemeClr val="accent1"/>
          </a:fillRef>
          <a:effectRef idx="2">
            <a:schemeClr val="accent1"/>
          </a:effectRef>
          <a:fontRef idx="minor">
            <a:schemeClr val="lt1"/>
          </a:fontRef>
        </p:style>
        <p:txBody>
          <a:bodyPr rtlCol="0" anchor="ctr"/>
          <a:lstStyle/>
          <a:p>
            <a:pPr>
              <a:defRPr sz="1200">
                <a:solidFill>
                  <a:srgbClr val="FFFFFF"/>
                </a:solidFill>
              </a:defRPr>
            </a:pPr>
            <a:r>
              <a:rPr sz="1400" b="1" dirty="0"/>
              <a:t>Power BI (Scheduled Refresh)</a:t>
            </a:r>
          </a:p>
        </p:txBody>
      </p:sp>
      <p:sp>
        <p:nvSpPr>
          <p:cNvPr id="24" name="Arrow: Right 23">
            <a:extLst>
              <a:ext uri="{FF2B5EF4-FFF2-40B4-BE49-F238E27FC236}">
                <a16:creationId xmlns:a16="http://schemas.microsoft.com/office/drawing/2014/main" id="{1C25243C-A6E2-7815-4DDA-B6A6E48782A9}"/>
              </a:ext>
            </a:extLst>
          </p:cNvPr>
          <p:cNvSpPr/>
          <p:nvPr/>
        </p:nvSpPr>
        <p:spPr>
          <a:xfrm>
            <a:off x="2658361" y="1664337"/>
            <a:ext cx="791849"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9987898A-7F84-A78B-455B-28B7E51B4E3C}"/>
              </a:ext>
            </a:extLst>
          </p:cNvPr>
          <p:cNvSpPr/>
          <p:nvPr/>
        </p:nvSpPr>
        <p:spPr>
          <a:xfrm>
            <a:off x="5890577" y="1664337"/>
            <a:ext cx="791849"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9C371E09-5C51-3CAF-43C9-30084721FCFD}"/>
              </a:ext>
            </a:extLst>
          </p:cNvPr>
          <p:cNvSpPr/>
          <p:nvPr/>
        </p:nvSpPr>
        <p:spPr>
          <a:xfrm rot="5400000">
            <a:off x="7428717" y="2569623"/>
            <a:ext cx="791849"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76666770-BCAB-9085-017B-33E0B3485428}"/>
              </a:ext>
            </a:extLst>
          </p:cNvPr>
          <p:cNvSpPr/>
          <p:nvPr/>
        </p:nvSpPr>
        <p:spPr>
          <a:xfrm rot="10800000">
            <a:off x="5804556" y="3552444"/>
            <a:ext cx="791849" cy="48463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Arrow: Bent-Up 29">
            <a:extLst>
              <a:ext uri="{FF2B5EF4-FFF2-40B4-BE49-F238E27FC236}">
                <a16:creationId xmlns:a16="http://schemas.microsoft.com/office/drawing/2014/main" id="{B8D7DF76-E6D2-6550-DB23-83D67462CE80}"/>
              </a:ext>
            </a:extLst>
          </p:cNvPr>
          <p:cNvSpPr/>
          <p:nvPr/>
        </p:nvSpPr>
        <p:spPr>
          <a:xfrm rot="10800000">
            <a:off x="2177588" y="3726339"/>
            <a:ext cx="1079370" cy="822930"/>
          </a:xfrm>
          <a:prstGeom prst="ben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Power BI Dashboard</a:t>
            </a:r>
          </a:p>
        </p:txBody>
      </p:sp>
      <p:sp>
        <p:nvSpPr>
          <p:cNvPr id="3" name="Content Placeholder 2"/>
          <p:cNvSpPr>
            <a:spLocks noGrp="1"/>
          </p:cNvSpPr>
          <p:nvPr>
            <p:ph idx="1"/>
          </p:nvPr>
        </p:nvSpPr>
        <p:spPr/>
        <p:txBody>
          <a:bodyPr>
            <a:normAutofit/>
          </a:bodyPr>
          <a:lstStyle/>
          <a:p>
            <a:r>
              <a:rPr dirty="0"/>
              <a:t>The Power BI dashboard is scheduled to refresh daily after the ETL pipeline finishes.</a:t>
            </a:r>
          </a:p>
          <a:p>
            <a:r>
              <a:rPr dirty="0"/>
              <a:t>It visualizes:</a:t>
            </a:r>
          </a:p>
          <a:p>
            <a:pPr>
              <a:buFont typeface="Wingdings" panose="05000000000000000000" pitchFamily="2" charset="2"/>
              <a:buChar char="Ø"/>
            </a:pPr>
            <a:r>
              <a:rPr dirty="0"/>
              <a:t> Total Sales Over Time</a:t>
            </a:r>
          </a:p>
          <a:p>
            <a:pPr>
              <a:buFont typeface="Wingdings" panose="05000000000000000000" pitchFamily="2" charset="2"/>
              <a:buChar char="Ø"/>
            </a:pPr>
            <a:r>
              <a:rPr dirty="0"/>
              <a:t> T</a:t>
            </a:r>
            <a:r>
              <a:rPr lang="en-GB" dirty="0"/>
              <a:t>otal Sales Amount</a:t>
            </a:r>
            <a:endParaRPr dirty="0"/>
          </a:p>
          <a:p>
            <a:pPr>
              <a:buFont typeface="Wingdings" panose="05000000000000000000" pitchFamily="2" charset="2"/>
              <a:buChar char="Ø"/>
            </a:pPr>
            <a:r>
              <a:rPr dirty="0"/>
              <a:t> </a:t>
            </a:r>
            <a:r>
              <a:rPr lang="en-US" dirty="0"/>
              <a:t>Total Purchase By Each Customers</a:t>
            </a:r>
          </a:p>
          <a:p>
            <a:pPr>
              <a:buFont typeface="Wingdings" panose="05000000000000000000" pitchFamily="2" charset="2"/>
              <a:buChar char="Ø"/>
            </a:pPr>
            <a:r>
              <a:rPr lang="en-US" dirty="0"/>
              <a:t>  Average amount of Sales per day</a:t>
            </a:r>
          </a:p>
          <a:p>
            <a:pPr>
              <a:buFont typeface="Wingdings" panose="05000000000000000000" pitchFamily="2" charset="2"/>
              <a:buChar char="Ø"/>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5DABE5C-5AE1-7EE0-46E8-D1F060BE0EBC}"/>
              </a:ext>
            </a:extLst>
          </p:cNvPr>
          <p:cNvPicPr>
            <a:picLocks noChangeAspect="1"/>
          </p:cNvPicPr>
          <p:nvPr/>
        </p:nvPicPr>
        <p:blipFill>
          <a:blip r:embed="rId2"/>
          <a:stretch>
            <a:fillRect/>
          </a:stretch>
        </p:blipFill>
        <p:spPr>
          <a:xfrm>
            <a:off x="209172" y="655079"/>
            <a:ext cx="8725656" cy="5547841"/>
          </a:xfrm>
          <a:prstGeom prst="rect">
            <a:avLst/>
          </a:prstGeom>
        </p:spPr>
      </p:pic>
      <p:graphicFrame>
        <p:nvGraphicFramePr>
          <p:cNvPr id="8" name="Object 7">
            <a:extLst>
              <a:ext uri="{FF2B5EF4-FFF2-40B4-BE49-F238E27FC236}">
                <a16:creationId xmlns:a16="http://schemas.microsoft.com/office/drawing/2014/main" id="{FDA07C7A-BB0F-9D0E-C29A-6B70C03C7D94}"/>
              </a:ext>
            </a:extLst>
          </p:cNvPr>
          <p:cNvGraphicFramePr>
            <a:graphicFrameLocks noChangeAspect="1"/>
          </p:cNvGraphicFramePr>
          <p:nvPr>
            <p:extLst>
              <p:ext uri="{D42A27DB-BD31-4B8C-83A1-F6EECF244321}">
                <p14:modId xmlns:p14="http://schemas.microsoft.com/office/powerpoint/2010/main" val="1121394136"/>
              </p:ext>
            </p:extLst>
          </p:nvPr>
        </p:nvGraphicFramePr>
        <p:xfrm>
          <a:off x="8588375" y="6340475"/>
          <a:ext cx="555625" cy="517525"/>
        </p:xfrm>
        <a:graphic>
          <a:graphicData uri="http://schemas.openxmlformats.org/presentationml/2006/ole">
            <mc:AlternateContent xmlns:mc="http://schemas.openxmlformats.org/markup-compatibility/2006">
              <mc:Choice xmlns:v="urn:schemas-microsoft-com:vml" Requires="v">
                <p:oleObj name="Packager Shell Object" showAsIcon="1" r:id="rId3" imgW="556295" imgH="517956" progId="Package">
                  <p:embed/>
                </p:oleObj>
              </mc:Choice>
              <mc:Fallback>
                <p:oleObj name="Packager Shell Object" showAsIcon="1" r:id="rId3" imgW="556295" imgH="517956" progId="Package">
                  <p:embed/>
                  <p:pic>
                    <p:nvPicPr>
                      <p:cNvPr id="0" name=""/>
                      <p:cNvPicPr/>
                      <p:nvPr/>
                    </p:nvPicPr>
                    <p:blipFill>
                      <a:blip r:embed="rId4"/>
                      <a:stretch>
                        <a:fillRect/>
                      </a:stretch>
                    </p:blipFill>
                    <p:spPr>
                      <a:xfrm>
                        <a:off x="8588375" y="6340475"/>
                        <a:ext cx="555625" cy="517525"/>
                      </a:xfrm>
                      <a:prstGeom prst="rect">
                        <a:avLst/>
                      </a:prstGeom>
                    </p:spPr>
                  </p:pic>
                </p:oleObj>
              </mc:Fallback>
            </mc:AlternateContent>
          </a:graphicData>
        </a:graphic>
      </p:graphicFrame>
    </p:spTree>
    <p:extLst>
      <p:ext uri="{BB962C8B-B14F-4D97-AF65-F5344CB8AC3E}">
        <p14:creationId xmlns:p14="http://schemas.microsoft.com/office/powerpoint/2010/main" val="2068002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 </a:t>
            </a:r>
          </a:p>
        </p:txBody>
      </p:sp>
      <p:sp>
        <p:nvSpPr>
          <p:cNvPr id="3" name="Content Placeholder 2"/>
          <p:cNvSpPr>
            <a:spLocks noGrp="1"/>
          </p:cNvSpPr>
          <p:nvPr>
            <p:ph idx="1"/>
          </p:nvPr>
        </p:nvSpPr>
        <p:spPr/>
        <p:txBody>
          <a:bodyPr/>
          <a:lstStyle/>
          <a:p>
            <a:r>
              <a:rPr dirty="0"/>
              <a:t>This project demonstrates how to build an end-to-end automated data pipeline using modern data tools. It enables reliable and scalable reporting for business insights.</a:t>
            </a:r>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A5BBB-9DE8-D7B7-1804-48EA3FD1B9BB}"/>
              </a:ext>
            </a:extLst>
          </p:cNvPr>
          <p:cNvSpPr>
            <a:spLocks noGrp="1"/>
          </p:cNvSpPr>
          <p:nvPr>
            <p:ph type="ctrTitle"/>
          </p:nvPr>
        </p:nvSpPr>
        <p:spPr/>
        <p:txBody>
          <a:bodyPr/>
          <a:lstStyle/>
          <a:p>
            <a:r>
              <a:rPr lang="en-GB" dirty="0"/>
              <a:t>THANK YOU …</a:t>
            </a:r>
            <a:endParaRPr lang="en-US" dirty="0"/>
          </a:p>
        </p:txBody>
      </p:sp>
      <p:sp>
        <p:nvSpPr>
          <p:cNvPr id="3" name="Subtitle 2">
            <a:extLst>
              <a:ext uri="{FF2B5EF4-FFF2-40B4-BE49-F238E27FC236}">
                <a16:creationId xmlns:a16="http://schemas.microsoft.com/office/drawing/2014/main" id="{37964E0D-64B3-B5FD-A98D-0DE00AD4F0A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30139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205</Words>
  <Application>Microsoft Office PowerPoint</Application>
  <PresentationFormat>On-screen Show (4:3)</PresentationFormat>
  <Paragraphs>33</Paragraphs>
  <Slides>9</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4" baseType="lpstr">
      <vt:lpstr>Arial</vt:lpstr>
      <vt:lpstr>Calibri</vt:lpstr>
      <vt:lpstr>Wingdings</vt:lpstr>
      <vt:lpstr>Office Theme</vt:lpstr>
      <vt:lpstr>Package</vt:lpstr>
      <vt:lpstr>Sales ETL Pipeline Project</vt:lpstr>
      <vt:lpstr>Agenda</vt:lpstr>
      <vt:lpstr>Project Overview</vt:lpstr>
      <vt:lpstr>Tools &amp; Technologies</vt:lpstr>
      <vt:lpstr>ETL Architecture Diagram</vt:lpstr>
      <vt:lpstr>Power BI Dashboard</vt:lpstr>
      <vt:lpstr>PowerPoint Presentation</vt:lpstr>
      <vt:lpstr>Conclusion </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Nazina .N</cp:lastModifiedBy>
  <cp:revision>5</cp:revision>
  <dcterms:created xsi:type="dcterms:W3CDTF">2013-01-27T09:14:16Z</dcterms:created>
  <dcterms:modified xsi:type="dcterms:W3CDTF">2025-05-02T08:26:18Z</dcterms:modified>
  <cp:category/>
</cp:coreProperties>
</file>